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Khám phá hành vi và churn của dịch vụ nhạc đăng ký (KKBox)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DAM501 Final Project</a:t>
            </a:r>
          </a:p>
          <a:p>
            <a:pPr>
              <a:defRPr sz="1800"/>
            </a:pPr>
            <a:r>
              <a:t>• Dữ liệu thật: 970.960 người dùng, 9,0% churn</a:t>
            </a:r>
          </a:p>
          <a:p>
            <a:pPr>
              <a:defRPr sz="1800"/>
            </a:pPr>
            <a:r>
              <a:t>• Mẫu phân tích: 187.330 người dùng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toán kinh doanh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Doanh thu thuê bao phụ thuộc gia hạn</a:t>
            </a:r>
          </a:p>
          <a:p>
            <a:pPr>
              <a:defRPr sz="1800"/>
            </a:pPr>
            <a:r>
              <a:t>• Mục tiêu: hiểu nhóm hành vi và tổ hợp đặc điểm dẫn tới churn</a:t>
            </a:r>
          </a:p>
          <a:p>
            <a:pPr>
              <a:defRPr sz="1800"/>
            </a:pPr>
            <a:r>
              <a:t>• Kỹ thuật: K-Means, FP-Growth, Decision Tree / Random Forest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Tín hiệu chính từ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Từng hủy: churn 93% (so với 41%)</a:t>
            </a:r>
          </a:p>
          <a:p>
            <a:pPr>
              <a:defRPr sz="1800"/>
            </a:pPr>
            <a:r>
              <a:t>• Tắt tự gia hạn: churn 88%</a:t>
            </a:r>
          </a:p>
          <a:p>
            <a:pPr>
              <a:defRPr sz="1800"/>
            </a:pPr>
            <a:r>
              <a:t>• Kênh đăng ký 7: 29%; kênh 3 và 4: 65–73%</a:t>
            </a:r>
          </a:p>
          <a:p>
            <a:pPr>
              <a:defRPr sz="1800"/>
            </a:pPr>
            <a:r>
              <a:t>• Có nghe nhạc hay không: gần như không phân biệt churn</a:t>
            </a:r>
          </a:p>
        </p:txBody>
      </p:sp>
      <p:pic>
        <p:nvPicPr>
          <p:cNvPr id="4" name="Picture 3" descr="eda_churn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120640" cy="3724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phân khúc người dùng (K-Means, silhouette 0,52)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Đã lỡ hạn, vẫn nghe: 21,839 người, churn 96%</a:t>
            </a:r>
          </a:p>
          <a:p>
            <a:pPr>
              <a:defRPr sz="1800"/>
            </a:pPr>
            <a:r>
              <a:t>• Thuê bao đang hoạt động (nhóm lớn): 121,028 người, churn 37%</a:t>
            </a:r>
          </a:p>
          <a:p>
            <a:pPr>
              <a:defRPr sz="1800"/>
            </a:pPr>
            <a:r>
              <a:t>• Trả phí nhưng không nghe: 34,268 người, churn 34%</a:t>
            </a:r>
          </a:p>
          <a:p>
            <a:pPr>
              <a:defRPr sz="1800"/>
            </a:pPr>
            <a:r>
              <a:t>• Hủy nhiều, đơn giá lạ: 1,362 người, churn 85%</a:t>
            </a:r>
          </a:p>
          <a:p>
            <a:pPr>
              <a:defRPr sz="1800"/>
            </a:pPr>
            <a:r>
              <a:t>• Đã bỏ hoàn toàn: 8,833 người, churn 100%</a:t>
            </a:r>
          </a:p>
        </p:txBody>
      </p:sp>
      <p:pic>
        <p:nvPicPr>
          <p:cNvPr id="4" name="Picture 3" descr="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 rules (FP-Growth)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no_logs &amp; plan=none: conf 1.00, lift 2.14</a:t>
            </a:r>
          </a:p>
          <a:p>
            <a:pPr>
              <a:defRPr sz="1800"/>
            </a:pPr>
            <a:r>
              <a:t>• auto_renew=off &amp; no_logs: conf 1.00, lift 2.14</a:t>
            </a:r>
          </a:p>
          <a:p>
            <a:pPr>
              <a:defRPr sz="1800"/>
            </a:pPr>
            <a:r>
              <a:t>• avg_secs=low &amp; plan=none &amp; skip_ratio=low: conf 1.00, lift 2.14</a:t>
            </a:r>
          </a:p>
          <a:p>
            <a:pPr>
              <a:defRPr sz="1800"/>
            </a:pPr>
            <a:r>
              <a:t>• plan=&gt;30d: conf 1.00, lift 2.14</a:t>
            </a:r>
          </a:p>
          <a:p>
            <a:pPr>
              <a:defRPr sz="1800"/>
            </a:pPr>
            <a:r>
              <a:t>• auto_renew=off &amp; avg_secs=low &amp; skip_ratio=low: conf 0.99, lift 2.13</a:t>
            </a:r>
          </a:p>
          <a:p>
            <a:pPr>
              <a:defRPr sz="1800"/>
            </a:pPr>
            <a:r>
              <a:t>• Lưu ý: nhiều rule phản ánh định nghĩa churn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Classification: đọc cho đúng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Random Forest đủ biến: ROC-AUC 0,977 (gần nhãn)</a:t>
            </a:r>
          </a:p>
          <a:p>
            <a:pPr>
              <a:defRPr sz="1800"/>
            </a:pPr>
            <a:r>
              <a:t>• Chỉ hành vi nghe và hồ sơ: ROC-AUC 0,761</a:t>
            </a:r>
          </a:p>
          <a:p>
            <a:pPr>
              <a:defRPr sz="1800"/>
            </a:pPr>
            <a:r>
              <a:t>• Dùng để giải thích, không để khoe độ chính xác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Khuyến nghị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Bảo vệ nhóm đang hoạt động: nhắc gia hạn, giữ auto-renew</a:t>
            </a:r>
          </a:p>
          <a:p>
            <a:pPr>
              <a:defRPr sz="1800"/>
            </a:pPr>
            <a:r>
              <a:t>• Kích hoạt lại nhóm trả phí nhưng không nghe</a:t>
            </a:r>
          </a:p>
          <a:p>
            <a:pPr>
              <a:defRPr sz="1800"/>
            </a:pPr>
            <a:r>
              <a:t>• Ưu đãi tái đăng ký cho nhóm đã lỡ hạn nhưng vẫn nghe</a:t>
            </a:r>
          </a:p>
          <a:p>
            <a:pPr>
              <a:defRPr sz="1800"/>
            </a:pPr>
            <a:r>
              <a:t>• Xem lại onboarding của kênh 3 và 4</a:t>
            </a:r>
          </a:p>
          <a:p>
            <a:pPr>
              <a:defRPr sz="1800"/>
            </a:pPr>
            <a:r>
              <a:t>• Hạn chế: mẫu cân bằng, nhãn gần các biến giao dịch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